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10241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嵌入式开发 · MCP 协议 · AI 工具链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68680" y="1572768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embedded-mcp-toolkit</a:t>
            </a:r>
            <a:endParaRPr lang="en-US" sz="4700" dirty="0"/>
          </a:p>
        </p:txBody>
      </p:sp>
      <p:sp>
        <p:nvSpPr>
          <p:cNvPr id="4" name="Text 2"/>
          <p:cNvSpPr/>
          <p:nvPr/>
        </p:nvSpPr>
        <p:spPr>
          <a:xfrm>
            <a:off x="868680" y="26974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 AI 直接对话嵌入式板卡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868680" y="3401568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7D3D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 MCP 协议的嵌入式板卡远程管理工具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7D3D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串口 / SSH / ADB / PowerShell 四通道统一抽象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4498848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1E3348"/>
          </a:solidFill>
          <a:ln w="12700">
            <a:solidFill>
              <a:srgbClr val="3E5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44988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487168" y="4498848"/>
            <a:ext cx="969264" cy="457200"/>
          </a:xfrm>
          <a:prstGeom prst="roundRect">
            <a:avLst>
              <a:gd name="adj" fmla="val 16000"/>
            </a:avLst>
          </a:prstGeom>
          <a:solidFill>
            <a:srgbClr val="1E3348"/>
          </a:solidFill>
          <a:ln w="12700">
            <a:solidFill>
              <a:srgbClr val="3E5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87168" y="4498848"/>
            <a:ext cx="969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703320" y="4498848"/>
            <a:ext cx="969264" cy="457200"/>
          </a:xfrm>
          <a:prstGeom prst="roundRect">
            <a:avLst>
              <a:gd name="adj" fmla="val 16000"/>
            </a:avLst>
          </a:prstGeom>
          <a:solidFill>
            <a:srgbClr val="1E3348"/>
          </a:solidFill>
          <a:ln w="12700">
            <a:solidFill>
              <a:srgbClr val="3E5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03320" y="4498848"/>
            <a:ext cx="969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adb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919472" y="4498848"/>
            <a:ext cx="1975104" cy="457200"/>
          </a:xfrm>
          <a:prstGeom prst="roundRect">
            <a:avLst>
              <a:gd name="adj" fmla="val 16000"/>
            </a:avLst>
          </a:prstGeom>
          <a:solidFill>
            <a:srgbClr val="1E3348"/>
          </a:solidFill>
          <a:ln w="12700">
            <a:solidFill>
              <a:srgbClr val="3E5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4498848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powershell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882128" y="3950208"/>
            <a:ext cx="3749040" cy="1572768"/>
          </a:xfrm>
          <a:prstGeom prst="roundRect">
            <a:avLst>
              <a:gd name="adj" fmla="val 5233"/>
            </a:avLst>
          </a:prstGeom>
          <a:solidFill>
            <a:srgbClr val="1B2E42"/>
          </a:solidFill>
          <a:ln/>
        </p:spPr>
      </p:sp>
      <p:sp>
        <p:nvSpPr>
          <p:cNvPr id="15" name="Shape 13"/>
          <p:cNvSpPr/>
          <p:nvPr/>
        </p:nvSpPr>
        <p:spPr>
          <a:xfrm>
            <a:off x="8119872" y="4151376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6" name="Shape 14"/>
          <p:cNvSpPr/>
          <p:nvPr/>
        </p:nvSpPr>
        <p:spPr>
          <a:xfrm>
            <a:off x="8302752" y="4151376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7" name="Shape 15"/>
          <p:cNvSpPr/>
          <p:nvPr/>
        </p:nvSpPr>
        <p:spPr>
          <a:xfrm>
            <a:off x="8485632" y="4151376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8" name="Text 16"/>
          <p:cNvSpPr/>
          <p:nvPr/>
        </p:nvSpPr>
        <p:spPr>
          <a:xfrm>
            <a:off x="8156448" y="4370832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8FA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/mcp list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embedded-board</a:t>
            </a:r>
            <a:r>
              <a:rPr lang="en-US" sz="1250" b="1" dirty="0">
                <a:solidFill>
                  <a:srgbClr val="6FC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✓ connected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68680" y="61447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8CA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技术分享 ·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836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3A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68680" y="182880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A66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764792" y="181051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为什么需要它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1764792" y="22311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从人肉调试到 MCP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68680" y="2706624"/>
            <a:ext cx="4754880" cy="0"/>
          </a:xfrm>
          <a:prstGeom prst="line">
            <a:avLst/>
          </a:prstGeom>
          <a:noFill/>
          <a:ln w="9525">
            <a:solidFill>
              <a:srgbClr val="D8E0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01752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A66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764792" y="299923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什么是 MCP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1764792" y="34198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背景知识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3895344"/>
            <a:ext cx="4754880" cy="0"/>
          </a:xfrm>
          <a:prstGeom prst="line">
            <a:avLst/>
          </a:prstGeom>
          <a:noFill/>
          <a:ln w="9525">
            <a:solidFill>
              <a:srgbClr val="D8E0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20624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A66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764792" y="418795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项目架构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1764792" y="46085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三层结构 + 工具能力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68680" y="5084064"/>
            <a:ext cx="4754880" cy="0"/>
          </a:xfrm>
          <a:prstGeom prst="line">
            <a:avLst/>
          </a:prstGeom>
          <a:noFill/>
          <a:ln w="9525">
            <a:solidFill>
              <a:srgbClr val="D8E0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539496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A66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764792" y="537667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部署方案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1764792" y="57972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本地同机 · 跨机远程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68680" y="6272784"/>
            <a:ext cx="4754880" cy="0"/>
          </a:xfrm>
          <a:prstGeom prst="line">
            <a:avLst/>
          </a:prstGeom>
          <a:noFill/>
          <a:ln w="9525">
            <a:solidFill>
              <a:srgbClr val="D8E0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182880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A66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434072" y="181051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带来什么便利</a:t>
            </a:r>
            <a:endParaRPr lang="en-US" sz="1850" dirty="0"/>
          </a:p>
        </p:txBody>
      </p:sp>
      <p:sp>
        <p:nvSpPr>
          <p:cNvPr id="21" name="Text 19"/>
          <p:cNvSpPr/>
          <p:nvPr/>
        </p:nvSpPr>
        <p:spPr>
          <a:xfrm>
            <a:off x="7434072" y="22311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价值与边界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37960" y="2706624"/>
            <a:ext cx="4754880" cy="0"/>
          </a:xfrm>
          <a:prstGeom prst="line">
            <a:avLst/>
          </a:prstGeom>
          <a:noFill/>
          <a:ln w="9525">
            <a:solidFill>
              <a:srgbClr val="D8E0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301752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A66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434072" y="299923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快速上手</a:t>
            </a:r>
            <a:endParaRPr lang="en-US" sz="1850" dirty="0"/>
          </a:p>
        </p:txBody>
      </p:sp>
      <p:sp>
        <p:nvSpPr>
          <p:cNvPr id="25" name="Text 23"/>
          <p:cNvSpPr/>
          <p:nvPr/>
        </p:nvSpPr>
        <p:spPr>
          <a:xfrm>
            <a:off x="7434072" y="34198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现场 Demo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537960" y="3895344"/>
            <a:ext cx="4754880" cy="0"/>
          </a:xfrm>
          <a:prstGeom prst="line">
            <a:avLst/>
          </a:prstGeom>
          <a:noFill/>
          <a:ln w="9525">
            <a:solidFill>
              <a:srgbClr val="D8E0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420624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A66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434072" y="418795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总结与展望</a:t>
            </a:r>
            <a:endParaRPr lang="en-US" sz="1850" dirty="0"/>
          </a:p>
        </p:txBody>
      </p:sp>
      <p:sp>
        <p:nvSpPr>
          <p:cNvPr id="29" name="Text 27"/>
          <p:cNvSpPr/>
          <p:nvPr/>
        </p:nvSpPr>
        <p:spPr>
          <a:xfrm>
            <a:off x="7434072" y="46085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回顾与方向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537960" y="5084064"/>
            <a:ext cx="4754880" cy="0"/>
          </a:xfrm>
          <a:prstGeom prst="line">
            <a:avLst/>
          </a:prstGeom>
          <a:noFill/>
          <a:ln w="9525">
            <a:solidFill>
              <a:srgbClr val="D8E0E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9A66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01 · 为什么需要它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SSH的调试变迁：从人眼中转，到 AI 直调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17352" y="64556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/ 24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138988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D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以前   </a:t>
            </a:r>
            <a:r>
              <a:rPr lang="en-US" sz="1700" b="1" dirty="0">
                <a:solidFill>
                  <a:srgbClr val="1F3A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人当「中间人」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828800"/>
            <a:ext cx="5394960" cy="2395728"/>
          </a:xfrm>
          <a:prstGeom prst="roundRect">
            <a:avLst>
              <a:gd name="adj" fmla="val 3435"/>
            </a:avLst>
          </a:prstGeom>
          <a:solidFill>
            <a:srgbClr val="1B2E42"/>
          </a:solidFill>
          <a:ln/>
        </p:spPr>
      </p:sp>
      <p:sp>
        <p:nvSpPr>
          <p:cNvPr id="7" name="Shape 5"/>
          <p:cNvSpPr/>
          <p:nvPr/>
        </p:nvSpPr>
        <p:spPr>
          <a:xfrm>
            <a:off x="804672" y="2029968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987552" y="2029968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170432" y="2029968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877824" y="2377440"/>
            <a:ext cx="4846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ssh root@192.168.16.105</a:t>
            </a:r>
            <a:r>
              <a:rPr lang="en-US" sz="1200" dirty="0">
                <a:solidFill>
                  <a:srgbClr val="8FA3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  ← 人：开终端、登录板卡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root@board:~# free</a:t>
            </a:r>
            <a:r>
              <a:rPr lang="en-US" sz="1200" dirty="0">
                <a:solidFill>
                  <a:srgbClr val="8FA3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     ← 人：手敲命令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Mem: 506864 94152 293068 …</a:t>
            </a:r>
            <a:r>
              <a:rPr lang="en-US" sz="1200" dirty="0">
                <a:solidFill>
                  <a:srgbClr val="8FA3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 ← 人：眼挑数字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root@board:~#</a:t>
            </a:r>
            <a:r>
              <a:rPr lang="en-US" sz="1200" dirty="0">
                <a:solidFill>
                  <a:srgbClr val="8FA3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           ← 人：判断「发下一条」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12648" y="4389120"/>
            <a:ext cx="5349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250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日志靠复制粘贴中转；烧写、重启、看日志，全程守着终端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250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过滤噪声、判断结束、维持状态——全靠人脑实时顶上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263640" y="138988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66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现在   </a:t>
            </a:r>
            <a:r>
              <a:rPr lang="en-US" sz="1700" b="1" dirty="0">
                <a:solidFill>
                  <a:srgbClr val="1F3A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自己拿日志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63640" y="1828800"/>
            <a:ext cx="5358384" cy="2395728"/>
          </a:xfrm>
          <a:prstGeom prst="roundRect">
            <a:avLst>
              <a:gd name="adj" fmla="val 2672"/>
            </a:avLst>
          </a:prstGeom>
          <a:solidFill>
            <a:srgbClr val="F1F4F8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48" y="2066544"/>
            <a:ext cx="4800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5D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你  </a:t>
            </a:r>
            <a:r>
              <a:rPr lang="en-US" sz="1300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看下板子内存还剩多少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9A66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 </a:t>
            </a:r>
            <a:r>
              <a:rPr lang="en-US" sz="1300" b="1" dirty="0">
                <a:solidFill>
                  <a:srgbClr val="1F3A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 root@board "free"</a:t>
            </a:r>
            <a:r>
              <a:rPr lang="en-US" sz="1200" dirty="0">
                <a:solidFill>
                  <a:srgbClr val="5D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一次调用、一次响应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9A66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 </a:t>
            </a:r>
            <a:r>
              <a:rPr lang="en-US" sz="1300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总内存 495 MB，可用约 316 MB，无 Swap——直接给结论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5D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你  </a:t>
            </a:r>
            <a:r>
              <a:rPr lang="en-US" sz="1300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再看下 CPU 负载呢？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9A66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 </a:t>
            </a:r>
            <a:r>
              <a:rPr lang="en-US" sz="1300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load average 0.08——一条命令的事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09360" y="438912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250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Claude Code / ZCode / OpenCode 自带 shell，命令随口就能跑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250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一次性命令直调完全够用——人不用再复制粘贴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5650992"/>
            <a:ext cx="11055096" cy="713232"/>
          </a:xfrm>
          <a:prstGeom prst="roundRect">
            <a:avLst>
              <a:gd name="adj" fmla="val 8974"/>
            </a:avLst>
          </a:prstGeom>
          <a:solidFill>
            <a:srgbClr val="FBF2DC"/>
          </a:solidFill>
          <a:ln/>
        </p:spPr>
      </p:sp>
      <p:sp>
        <p:nvSpPr>
          <p:cNvPr id="17" name="Text 15"/>
          <p:cNvSpPr/>
          <p:nvPr/>
        </p:nvSpPr>
        <p:spPr>
          <a:xfrm>
            <a:off x="859536" y="5650992"/>
            <a:ext cx="10469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复制粘贴可以消失——但嵌入式调试还有一个绕不开的那条通道是串口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9A66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01 · 为什么需要它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串口的调试变迁：一条命令，变成一段脚本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17352" y="64556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24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换到串口试试——同样是「读一次内存」，AI 直调的样子变成了这样：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1810512"/>
            <a:ext cx="4114800" cy="2286000"/>
          </a:xfrm>
          <a:prstGeom prst="roundRect">
            <a:avLst>
              <a:gd name="adj" fmla="val 2800"/>
            </a:avLst>
          </a:prstGeom>
          <a:solidFill>
            <a:srgbClr val="F1F4F8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04825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SSH / ADB：一条命令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542032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F3A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 root@board "free"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F3A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adb shell free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1248" y="340156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D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一次调用、一次响应，输出干净、拿来就用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901184" y="1810512"/>
            <a:ext cx="6720840" cy="2286000"/>
          </a:xfrm>
          <a:prstGeom prst="roundRect">
            <a:avLst>
              <a:gd name="adj" fmla="val 3600"/>
            </a:avLst>
          </a:prstGeom>
          <a:solidFill>
            <a:srgbClr val="1B2E42"/>
          </a:solidFill>
          <a:ln/>
        </p:spPr>
      </p:sp>
      <p:sp>
        <p:nvSpPr>
          <p:cNvPr id="11" name="Shape 9"/>
          <p:cNvSpPr/>
          <p:nvPr/>
        </p:nvSpPr>
        <p:spPr>
          <a:xfrm>
            <a:off x="5138928" y="2011680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2" name="Shape 10"/>
          <p:cNvSpPr/>
          <p:nvPr/>
        </p:nvSpPr>
        <p:spPr>
          <a:xfrm>
            <a:off x="5321808" y="2011680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3" name="Shape 11"/>
          <p:cNvSpPr/>
          <p:nvPr/>
        </p:nvSpPr>
        <p:spPr>
          <a:xfrm>
            <a:off x="5504688" y="2011680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4" name="Text 12"/>
          <p:cNvSpPr/>
          <p:nvPr/>
        </p:nvSpPr>
        <p:spPr>
          <a:xfrm>
            <a:off x="5212080" y="2231136"/>
            <a:ext cx="6126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$port = New-Object System.IO.Ports.SerialPort COM3,115200,None,8,one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$port.Open()</a:t>
            </a:r>
            <a:r>
              <a:rPr lang="en-US" sz="1150" dirty="0">
                <a:solidFill>
                  <a:srgbClr val="8FA3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 ← 开端口（排他）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$port.WriteLine("free")</a:t>
            </a:r>
            <a:r>
              <a:rPr lang="en-US" sz="1150" dirty="0">
                <a:solidFill>
                  <a:srgbClr val="8FA3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  ← 写命令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Start-Sleep -Milliseconds 800</a:t>
            </a:r>
            <a:r>
              <a:rPr lang="en-US" sz="1150" b="1" dirty="0">
                <a:solidFill>
                  <a:srgbClr val="E8A9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← 等多久？猜的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$port.ReadExisting()</a:t>
            </a:r>
            <a:r>
              <a:rPr lang="en-US" sz="1150" dirty="0">
                <a:solidFill>
                  <a:srgbClr val="8FA3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     ← 读缓冲：完没完不知道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$port.Close()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4224528"/>
            <a:ext cx="11055096" cy="1298448"/>
          </a:xfrm>
          <a:prstGeom prst="roundRect">
            <a:avLst>
              <a:gd name="adj" fmla="val 6338"/>
            </a:avLst>
          </a:prstGeom>
          <a:solidFill>
            <a:srgbClr val="1B2E42"/>
          </a:solidFill>
          <a:ln/>
        </p:spPr>
      </p:sp>
      <p:sp>
        <p:nvSpPr>
          <p:cNvPr id="16" name="Shape 14"/>
          <p:cNvSpPr/>
          <p:nvPr/>
        </p:nvSpPr>
        <p:spPr>
          <a:xfrm>
            <a:off x="804672" y="4425696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7" name="Shape 15"/>
          <p:cNvSpPr/>
          <p:nvPr/>
        </p:nvSpPr>
        <p:spPr>
          <a:xfrm>
            <a:off x="987552" y="4425696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8" name="Shape 16"/>
          <p:cNvSpPr/>
          <p:nvPr/>
        </p:nvSpPr>
        <p:spPr>
          <a:xfrm>
            <a:off x="1170432" y="4425696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9" name="Text 17"/>
          <p:cNvSpPr/>
          <p:nvPr/>
        </p:nvSpPr>
        <p:spPr>
          <a:xfrm>
            <a:off x="877824" y="4700016"/>
            <a:ext cx="10415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</a:t>
            </a:r>
            <a:r>
              <a:rPr lang="en-US" sz="1200" dirty="0">
                <a:solidFill>
                  <a:srgbClr val="8FA3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                              ← 命令回显（噪声）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Mem: 506864 94152 293068 …</a:t>
            </a:r>
            <a:r>
              <a:rPr lang="en-US" sz="1200" dirty="0">
                <a:solidFill>
                  <a:srgbClr val="8FA3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       ← 真正的数据夹在中间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root@board:~#</a:t>
            </a:r>
            <a:r>
              <a:rPr lang="en-US" sz="1200" dirty="0">
                <a:solidFill>
                  <a:srgbClr val="8FA3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                  ← 提示符 = 唯一的「结束」线索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5669280"/>
            <a:ext cx="11055096" cy="685800"/>
          </a:xfrm>
          <a:prstGeom prst="roundRect">
            <a:avLst>
              <a:gd name="adj" fmla="val 9333"/>
            </a:avLst>
          </a:prstGeom>
          <a:solidFill>
            <a:srgbClr val="FBF2DC"/>
          </a:solidFill>
          <a:ln/>
        </p:spPr>
      </p:sp>
      <p:sp>
        <p:nvSpPr>
          <p:cNvPr id="21" name="Text 19"/>
          <p:cNvSpPr/>
          <p:nvPr/>
        </p:nvSpPr>
        <p:spPr>
          <a:xfrm>
            <a:off x="859536" y="5669280"/>
            <a:ext cx="10469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SSH 是一条命令，串口是每轮都要重写的脚本——Sleep 多少全靠猜，慢命令直接截断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9A66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01 · 为什么需要它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困境①：串口不是「请求-响应」模型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17352" y="64556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/ 24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U-Boot 引导、内核启动、无 SSH 的早期设备都只认它——而它是一段</a:t>
            </a:r>
            <a:r>
              <a:rPr lang="en-US" sz="1350" b="1" dirty="0">
                <a:solidFill>
                  <a:srgbClr val="9A66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裸字节流</a:t>
            </a:r>
            <a:r>
              <a:rPr lang="en-US" sz="1350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，根子上有三个结构问题：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1810512"/>
            <a:ext cx="3538728" cy="2148840"/>
          </a:xfrm>
          <a:prstGeom prst="roundRect">
            <a:avLst>
              <a:gd name="adj" fmla="val 2979"/>
            </a:avLst>
          </a:prstGeom>
          <a:solidFill>
            <a:srgbClr val="F1F4F8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01168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 1 · 没有结束信号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" y="2414016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读到的字节不告诉你「输出完没完」：短命令读全了，慢命令就是截断的半截，而文本毫无破绽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25112" y="1810512"/>
            <a:ext cx="3538728" cy="2148840"/>
          </a:xfrm>
          <a:prstGeom prst="roundRect">
            <a:avLst>
              <a:gd name="adj" fmla="val 2979"/>
            </a:avLst>
          </a:prstGeom>
          <a:solidFill>
            <a:srgbClr val="F1F4F8"/>
          </a:solidFill>
          <a:ln/>
        </p:spPr>
      </p:sp>
      <p:sp>
        <p:nvSpPr>
          <p:cNvPr id="10" name="Text 8"/>
          <p:cNvSpPr/>
          <p:nvPr/>
        </p:nvSpPr>
        <p:spPr>
          <a:xfrm>
            <a:off x="4562856" y="201168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 2 · 输出只在瞬间存在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62856" y="2414016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boot 日志只刷一次，必须当时握着端口；反复开关端口还可能触发 DTR 复位——「临时开一下」本身就不安全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83296" y="1810512"/>
            <a:ext cx="3538728" cy="2148840"/>
          </a:xfrm>
          <a:prstGeom prst="roundRect">
            <a:avLst>
              <a:gd name="adj" fmla="val 2979"/>
            </a:avLst>
          </a:prstGeom>
          <a:solidFill>
            <a:srgbClr val="F1F4F8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201168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 3 · 每轮重写一遍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321040" y="2414016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就算 AI 会写：开端口、循环读、判结束、清洗——每轮从头写、重新猜超时，行为不可复现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4160520"/>
            <a:ext cx="11055096" cy="640080"/>
          </a:xfrm>
          <a:prstGeom prst="roundRect">
            <a:avLst>
              <a:gd name="adj" fmla="val 8571"/>
            </a:avLst>
          </a:prstGeom>
          <a:ln w="12700">
            <a:solidFill>
              <a:srgbClr val="D9941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4160520"/>
            <a:ext cx="10506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66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同源问题   </a:t>
            </a:r>
            <a:r>
              <a:rPr lang="en-US" sz="1300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logcat / top / ping / tail -f 这类常驻命令永不返回提示符——「等多久算采够了」全靠猜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" y="5074920"/>
            <a:ext cx="11055096" cy="868680"/>
          </a:xfrm>
          <a:prstGeom prst="roundRect">
            <a:avLst>
              <a:gd name="adj" fmla="val 7368"/>
            </a:avLst>
          </a:prstGeom>
          <a:solidFill>
            <a:srgbClr val="FBF2DC"/>
          </a:solidFill>
          <a:ln/>
        </p:spPr>
      </p:sp>
      <p:sp>
        <p:nvSpPr>
          <p:cNvPr id="18" name="Text 16"/>
          <p:cNvSpPr/>
          <p:nvPr/>
        </p:nvSpPr>
        <p:spPr>
          <a:xfrm>
            <a:off x="859536" y="5074920"/>
            <a:ext cx="10469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当然也可以脚本尾部加一个 echo cmd_end 字符串，……但是这套逻辑写下来，就已经在重新实现这个 MCP 的「终端模拟器」了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9A66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01 · 为什么需要它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困境②：临时进程，状态活不过一轮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17352" y="64556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/ 24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426464"/>
            <a:ext cx="5623560" cy="2697480"/>
          </a:xfrm>
          <a:prstGeom prst="roundRect">
            <a:avLst>
              <a:gd name="adj" fmla="val 3051"/>
            </a:avLst>
          </a:prstGeom>
          <a:solidFill>
            <a:srgbClr val="1B2E42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162763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87552" y="162763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170432" y="162763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877824" y="2011680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 root@board "cd /tmp"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8FA3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  → 这次进了 /tmp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 root@board "ls"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8FA3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  → 又回到 ~，/tmp 白进了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 root@board "export FOO=1"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8FA3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  → 环境变量也丢了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0" y="1426464"/>
            <a:ext cx="5221224" cy="2697480"/>
          </a:xfrm>
          <a:prstGeom prst="roundRect">
            <a:avLst>
              <a:gd name="adj" fmla="val 2373"/>
            </a:avLst>
          </a:prstGeom>
          <a:solidFill>
            <a:srgbClr val="F1F4F8"/>
          </a:solidFill>
          <a:ln/>
        </p:spPr>
      </p:sp>
      <p:sp>
        <p:nvSpPr>
          <p:cNvPr id="11" name="Text 9"/>
          <p:cNvSpPr/>
          <p:nvPr/>
        </p:nvSpPr>
        <p:spPr>
          <a:xfrm>
            <a:off x="6693408" y="16642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3A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病根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693408" y="2139696"/>
            <a:ext cx="4617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250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Host 每轮让 AI 跑的 PowerShell 都是临时进程，用完即弃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250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而调试的节奏是「观察 → 决策 → 再观察」——每一次「看」都是新进程、新连接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250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cd /work/build &amp;&amp; source env-setup.sh 这类环境前缀每轮原样重发，漏一个 source 错得还很隐蔽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4315968"/>
            <a:ext cx="11055096" cy="1170432"/>
          </a:xfrm>
          <a:prstGeom prst="roundRect">
            <a:avLst>
              <a:gd name="adj" fmla="val 5469"/>
            </a:avLst>
          </a:prstGeom>
          <a:solidFill>
            <a:srgbClr val="FBF2DC"/>
          </a:solidFill>
          <a:ln/>
        </p:spPr>
      </p:sp>
      <p:sp>
        <p:nvSpPr>
          <p:cNvPr id="14" name="Text 12"/>
          <p:cNvSpPr/>
          <p:nvPr/>
        </p:nvSpPr>
        <p:spPr>
          <a:xfrm>
            <a:off x="859536" y="4315968"/>
            <a:ext cx="24688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A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交互式程序罩不住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493008" y="4315968"/>
            <a:ext cx="780897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U-Boot、menuconfig、gdb 不是「命令序列」而是「对话」——要发一句、看一句地往返，一次性命令的模型根本串不起来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5687568"/>
            <a:ext cx="11055096" cy="685800"/>
          </a:xfrm>
          <a:prstGeom prst="roundRect">
            <a:avLst>
              <a:gd name="adj" fmla="val 9333"/>
            </a:avLst>
          </a:prstGeom>
          <a:solidFill>
            <a:srgbClr val="FBF2DC"/>
          </a:solidFill>
          <a:ln/>
        </p:spPr>
      </p:sp>
      <p:sp>
        <p:nvSpPr>
          <p:cNvPr id="17" name="Text 15"/>
          <p:cNvSpPr/>
          <p:nvPr/>
        </p:nvSpPr>
        <p:spPr>
          <a:xfrm>
            <a:off x="859536" y="5687568"/>
            <a:ext cx="10469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病根是同一个：每轮的命令都跑在临时进程里——而调试需要的是一个「持续在线的读者」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9A66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01 · 为什么需要它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困境③：多设备管理，「写个 skill」够吗？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17352" y="64556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/ 24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真用起来磨人的是设备——四道关摆在 AI 直调面前：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1810512"/>
            <a:ext cx="5417820" cy="3310128"/>
          </a:xfrm>
          <a:prstGeom prst="roundRect">
            <a:avLst>
              <a:gd name="adj" fmla="val 1934"/>
            </a:avLst>
          </a:prstGeom>
          <a:solidFill>
            <a:srgbClr val="F1F4F8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048256"/>
            <a:ext cx="48691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多设备的四道关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505456"/>
            <a:ext cx="48691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参数关：哪块板在哪个口、波特率多少、IP 是什么——每次都得用户交代，靠AI记忆不靠谱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姿势关：SSH/ADB 拼命令即可；serial 裸字节流要判结束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占用关：串口排他——上轮没关干净本轮打不开，还可能 DTR 复位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并发关：盯 A 板同时操作 B 板——多条会话的开关与清场没人兜底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41248" y="3794760"/>
            <a:ext cx="4869180" cy="1207008"/>
          </a:xfrm>
          <a:prstGeom prst="roundRect">
            <a:avLst>
              <a:gd name="adj" fmla="val 6818"/>
            </a:avLst>
          </a:prstGeom>
          <a:solidFill>
            <a:srgbClr val="1B2E42"/>
          </a:solidFill>
          <a:ln/>
        </p:spPr>
      </p:sp>
      <p:sp>
        <p:nvSpPr>
          <p:cNvPr id="10" name="Shape 8"/>
          <p:cNvSpPr/>
          <p:nvPr/>
        </p:nvSpPr>
        <p:spPr>
          <a:xfrm>
            <a:off x="1078992" y="3995928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9"/>
          <p:cNvSpPr/>
          <p:nvPr/>
        </p:nvSpPr>
        <p:spPr>
          <a:xfrm>
            <a:off x="1261872" y="3995928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10"/>
          <p:cNvSpPr/>
          <p:nvPr/>
        </p:nvSpPr>
        <p:spPr>
          <a:xfrm>
            <a:off x="1444752" y="3995928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1"/>
          <p:cNvSpPr/>
          <p:nvPr/>
        </p:nvSpPr>
        <p:spPr>
          <a:xfrm>
            <a:off x="1115568" y="4197096"/>
            <a:ext cx="43205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8FA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skill · devices.md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COM3 → A 板 / 115200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board-b → 192.168.16.105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04204" y="1810512"/>
            <a:ext cx="5417820" cy="3310128"/>
          </a:xfrm>
          <a:prstGeom prst="roundRect">
            <a:avLst>
              <a:gd name="adj" fmla="val 1934"/>
            </a:avLst>
          </a:prstGeom>
          <a:solidFill>
            <a:srgbClr val="F1F4F8"/>
          </a:solidFill>
          <a:ln/>
        </p:spPr>
      </p:sp>
      <p:sp>
        <p:nvSpPr>
          <p:cNvPr id="15" name="Text 13"/>
          <p:cNvSpPr/>
          <p:nvPr/>
        </p:nvSpPr>
        <p:spPr>
          <a:xfrm>
            <a:off x="6478524" y="2048256"/>
            <a:ext cx="48691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写个 skill 能过几关？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78524" y="2505456"/>
            <a:ext cx="48691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E7D4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</a:t>
            </a:r>
            <a:r>
              <a:rPr lang="en-US" sz="1250" b="1" dirty="0">
                <a:solidFill>
                  <a:srgbClr val="1F3A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参数关——</a:t>
            </a:r>
            <a:r>
              <a:rPr lang="en-US" sz="1250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设备清单写进 skill 文档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　　AI 每次加载就知道连谁、用什么参数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✗ </a:t>
            </a:r>
            <a:r>
              <a:rPr lang="en-US" sz="1250" b="1" dirty="0">
                <a:solidFill>
                  <a:srgbClr val="1F3A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姿势关——</a:t>
            </a:r>
            <a:r>
              <a:rPr lang="en-US" sz="1250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SSH/ADB 拼命令即可；serial 状态机每轮现写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　　知识 ≠ 能力——困境①原样重演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✗ </a:t>
            </a:r>
            <a:r>
              <a:rPr lang="en-US" sz="1250" b="1" dirty="0">
                <a:solidFill>
                  <a:srgbClr val="1F3A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占用关——</a:t>
            </a:r>
            <a:r>
              <a:rPr lang="en-US" sz="1250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托管端口必须是活着的进程，文档做不到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✗ </a:t>
            </a:r>
            <a:r>
              <a:rPr lang="en-US" sz="1250" b="1" dirty="0">
                <a:solidFill>
                  <a:srgbClr val="1F3A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并发关——</a:t>
            </a:r>
            <a:r>
              <a:rPr lang="en-US" sz="1250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持有端口、仲裁冲突、异常清场，都得是常驻者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" y="5285232"/>
            <a:ext cx="11055096" cy="868680"/>
          </a:xfrm>
          <a:prstGeom prst="roundRect">
            <a:avLst>
              <a:gd name="adj" fmla="val 7368"/>
            </a:avLst>
          </a:prstGeom>
          <a:solidFill>
            <a:srgbClr val="FBF2DC"/>
          </a:solidFill>
          <a:ln/>
        </p:spPr>
      </p:sp>
      <p:sp>
        <p:nvSpPr>
          <p:cNvPr id="18" name="Text 16"/>
          <p:cNvSpPr/>
          <p:nvPr/>
        </p:nvSpPr>
        <p:spPr>
          <a:xfrm>
            <a:off x="859536" y="5285232"/>
            <a:ext cx="10469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 AI 自己养常驻串口会话？可以——但那意味着写一个常驻进程：</a:t>
            </a:r>
            <a:endParaRPr lang="en-US" sz="1600" dirty="0"/>
          </a:p>
          <a:p>
            <a:pPr indent="0" marL="0">
              <a:buNone/>
            </a:pPr>
            <a:r>
              <a:rPr lang="en-US" sz="1450" b="1" dirty="0">
                <a:solidFill>
                  <a:srgbClr val="1F3A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管排他、持端口、判结束、多设备仲裁——</a:t>
            </a:r>
            <a:r>
              <a:rPr lang="en-US" sz="1450" b="1" dirty="0">
                <a:solidFill>
                  <a:srgbClr val="9A66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写完这一套，就是在重新实现这个 MCP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9A66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01 · 为什么需要它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困境④：AI 在编译服务器，串口线在工位机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17352" y="64556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/ 24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Claude Code / OpenCode / ZCode 为了直接摸到代码，通常就跑在 Linux 编译服务器上——</a:t>
            </a:r>
            <a:r>
              <a:rPr lang="en-US" sz="1350" b="1" dirty="0">
                <a:solidFill>
                  <a:srgbClr val="9A66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两条路，各难一半：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1810512"/>
            <a:ext cx="5417820" cy="3310128"/>
          </a:xfrm>
          <a:prstGeom prst="roundRect">
            <a:avLst>
              <a:gd name="adj" fmla="val 1934"/>
            </a:avLst>
          </a:prstGeom>
          <a:solidFill>
            <a:srgbClr val="F1F4F8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066544"/>
            <a:ext cx="48691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方案 A · AI 搬到 Windows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450592"/>
            <a:ext cx="4869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代码从编译服务器挂载过来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" y="2852928"/>
            <a:ext cx="48691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2E7D4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 </a:t>
            </a:r>
            <a:r>
              <a:rPr lang="en-US" sz="1300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代码经 Z:\ 网络挂载读写——能用</a:t>
            </a:r>
            <a:endParaRPr lang="en-US" sz="1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2E7D4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 </a:t>
            </a:r>
            <a:r>
              <a:rPr lang="en-US" sz="1300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串口、USB-ADB 就在手边，AI 够得着，甚至可以powershell直调</a:t>
            </a:r>
            <a:endParaRPr lang="en-US" sz="1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✗  </a:t>
            </a:r>
            <a:r>
              <a:rPr lang="en-US" sz="1300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编译仍在服务器：每次 make 都要远程绕一圈</a:t>
            </a:r>
            <a:endParaRPr lang="en-US" sz="1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✗  </a:t>
            </a:r>
            <a:r>
              <a:rPr lang="en-US" sz="1300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网络挂载 I/O 慢，大仓库尤其难受(其实一般也不一定明显)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1248" y="4645152"/>
            <a:ext cx="48691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66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编辑别扭、编译绕圈，两头不讨好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04204" y="1810512"/>
            <a:ext cx="5417820" cy="3310128"/>
          </a:xfrm>
          <a:prstGeom prst="roundRect">
            <a:avLst>
              <a:gd name="adj" fmla="val 1934"/>
            </a:avLst>
          </a:prstGeom>
          <a:solidFill>
            <a:srgbClr val="F1F4F8"/>
          </a:solidFill>
          <a:ln/>
        </p:spPr>
      </p:sp>
      <p:sp>
        <p:nvSpPr>
          <p:cNvPr id="12" name="Text 10"/>
          <p:cNvSpPr/>
          <p:nvPr/>
        </p:nvSpPr>
        <p:spPr>
          <a:xfrm>
            <a:off x="6478524" y="2066544"/>
            <a:ext cx="48691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方案 B · AI 跑在编译服务器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78524" y="2450592"/>
            <a:ext cx="4869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团队的主流形态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78524" y="2852928"/>
            <a:ext cx="48691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2E7D4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 </a:t>
            </a:r>
            <a:r>
              <a:rPr lang="en-US" sz="1300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代码就在本地：编辑 → 编译 → 测试一气呵成</a:t>
            </a:r>
            <a:endParaRPr lang="en-US" sz="1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2E7D4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 </a:t>
            </a:r>
            <a:r>
              <a:rPr lang="en-US" sz="1300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工具链、依赖、产物都在手边，最顺畅</a:t>
            </a:r>
            <a:endParaRPr lang="en-US" sz="1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✗  </a:t>
            </a:r>
            <a:r>
              <a:rPr lang="en-US" sz="1300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串口线、USB-ADB 只插在 Windows 工位机</a:t>
            </a:r>
            <a:endParaRPr lang="en-US" sz="1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✗  </a:t>
            </a:r>
            <a:r>
              <a:rPr lang="en-US" sz="1300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Linux 侧没有任何路径碰到 COM 口 / USB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78524" y="4645152"/>
            <a:ext cx="48691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66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编译方便了，串口、USB这些没了，linux服务器碰不到这些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5358384"/>
            <a:ext cx="11055096" cy="731520"/>
          </a:xfrm>
          <a:prstGeom prst="roundRect">
            <a:avLst>
              <a:gd name="adj" fmla="val 8750"/>
            </a:avLst>
          </a:prstGeom>
          <a:solidFill>
            <a:srgbClr val="FBF2DC"/>
          </a:solidFill>
          <a:ln/>
        </p:spPr>
      </p:sp>
      <p:sp>
        <p:nvSpPr>
          <p:cNvPr id="17" name="Text 15"/>
          <p:cNvSpPr/>
          <p:nvPr/>
        </p:nvSpPr>
        <p:spPr>
          <a:xfrm>
            <a:off x="859536" y="5358384"/>
            <a:ext cx="10469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不是协议难写，是物理上没有那条线缆——必须有一个进程守在设备旁，让 AI 远程过来用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9A66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01 · 为什么需要它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解决思路：一个常驻的会话守护进程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17352" y="64556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/ 24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22860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1F3A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463040"/>
            <a:ext cx="2286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3A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编程助手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3630168" y="1463040"/>
            <a:ext cx="2788920" cy="804672"/>
          </a:xfrm>
          <a:prstGeom prst="roundRect">
            <a:avLst>
              <a:gd name="adj" fmla="val 9091"/>
            </a:avLst>
          </a:prstGeom>
          <a:solidFill>
            <a:srgbClr val="1F3A54"/>
          </a:solidFill>
          <a:ln/>
        </p:spPr>
      </p:sp>
      <p:sp>
        <p:nvSpPr>
          <p:cNvPr id="8" name="Text 6"/>
          <p:cNvSpPr/>
          <p:nvPr/>
        </p:nvSpPr>
        <p:spPr>
          <a:xfrm>
            <a:off x="3630168" y="1463040"/>
            <a:ext cx="2788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MCP Server（常驻）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196328" y="1463040"/>
            <a:ext cx="23774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1F3A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96328" y="1463040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 / serial / adb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351008" y="1463040"/>
            <a:ext cx="1271016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1F3A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51008" y="1463040"/>
            <a:ext cx="127101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3A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目标板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2852928" y="1865376"/>
            <a:ext cx="777240" cy="0"/>
          </a:xfrm>
          <a:prstGeom prst="line">
            <a:avLst/>
          </a:prstGeom>
          <a:noFill/>
          <a:ln w="25400">
            <a:solidFill>
              <a:srgbClr val="1F3A5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419088" y="1865376"/>
            <a:ext cx="777240" cy="0"/>
          </a:xfrm>
          <a:prstGeom prst="line">
            <a:avLst/>
          </a:prstGeom>
          <a:noFill/>
          <a:ln w="25400">
            <a:solidFill>
              <a:srgbClr val="1F3A5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573768" y="1865376"/>
            <a:ext cx="777240" cy="0"/>
          </a:xfrm>
          <a:prstGeom prst="line">
            <a:avLst/>
          </a:prstGeom>
          <a:noFill/>
          <a:ln w="25400">
            <a:solidFill>
              <a:srgbClr val="1F3A54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566928" y="2395728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一个长期活着的进程：连接、端口、会话状态都握在它手里</a:t>
            </a:r>
            <a:r>
              <a:rPr lang="en-US" sz="1350" dirty="0">
                <a:solidFill>
                  <a:srgbClr val="5D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——观察-决策循环直接在既有上下文里跑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66928" y="281635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困境 → 解法 对照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200400"/>
          <a:ext cx="11055096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7306056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困境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MCP Server 的解法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4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30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串口：无结束信号、输出只在瞬间存在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终端模拟器：滤回显、剥 ANSI、提示符检测判结束；端口常驻持有，boot 日志随时可读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30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多设备四道关：参数、姿势、占用、并发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devices/*.yaml 声明设备，AI 按名切换；Server 常驻托管端口与会话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30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交互式程序 + 常驻命令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write / read / send_ctrl 往返交互；提示符检测 + 双超时，常驻命令采样后自动 Ctrl+C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30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AI 在 Linux、设备插在 Windows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Server 守在设备旁握着物理通道，Linux 侧经 SSH 隧道把 stdio 延长过来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566928" y="5870448"/>
            <a:ext cx="11055096" cy="566928"/>
          </a:xfrm>
          <a:prstGeom prst="roundRect">
            <a:avLst>
              <a:gd name="adj" fmla="val 11290"/>
            </a:avLst>
          </a:prstGeom>
          <a:solidFill>
            <a:srgbClr val="FBF2DC"/>
          </a:solidFill>
          <a:ln/>
        </p:spPr>
      </p:sp>
      <p:sp>
        <p:nvSpPr>
          <p:cNvPr id="20" name="Text 17"/>
          <p:cNvSpPr/>
          <p:nvPr/>
        </p:nvSpPr>
        <p:spPr>
          <a:xfrm>
            <a:off x="859536" y="5870448"/>
            <a:ext cx="10469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这个「常驻的会话守护进程」正是 MCP 标准里的角色——MCP Server，也就是本项目 embedded-mcp-toolkit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9A66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02 · 背景知识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什么是 MCP？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17352" y="64556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/ 24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11055096" cy="1005840"/>
          </a:xfrm>
          <a:prstGeom prst="roundRect">
            <a:avLst>
              <a:gd name="adj" fmla="val 6364"/>
            </a:avLst>
          </a:prstGeom>
          <a:solidFill>
            <a:srgbClr val="FBF2DC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1517904"/>
            <a:ext cx="10469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MCP（Model Context Protocol）＝ AI 界的 USB 协议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6928" y="2816352"/>
            <a:ext cx="3538728" cy="1965960"/>
          </a:xfrm>
          <a:prstGeom prst="roundRect">
            <a:avLst>
              <a:gd name="adj" fmla="val 3256"/>
            </a:avLst>
          </a:prstGeom>
          <a:solidFill>
            <a:srgbClr val="F1F4F8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3108960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3A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开放标准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41248" y="3566160"/>
            <a:ext cx="29900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规范 AI 应用与外部数据源、工具之间的连接方式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25112" y="2816352"/>
            <a:ext cx="3538728" cy="1965960"/>
          </a:xfrm>
          <a:prstGeom prst="roundRect">
            <a:avLst>
              <a:gd name="adj" fmla="val 3256"/>
            </a:avLst>
          </a:prstGeom>
          <a:solidFill>
            <a:srgbClr val="F1F4F8"/>
          </a:solidFill>
          <a:ln/>
        </p:spPr>
      </p:sp>
      <p:sp>
        <p:nvSpPr>
          <p:cNvPr id="11" name="Text 9"/>
          <p:cNvSpPr/>
          <p:nvPr/>
        </p:nvSpPr>
        <p:spPr>
          <a:xfrm>
            <a:off x="4599432" y="3108960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3A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统一调用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4599432" y="3566160"/>
            <a:ext cx="29900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 LLM 以标准化方式调用外部能力，无需为每个工具单独写集成代码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83296" y="2816352"/>
            <a:ext cx="3538728" cy="1965960"/>
          </a:xfrm>
          <a:prstGeom prst="roundRect">
            <a:avLst>
              <a:gd name="adj" fmla="val 3256"/>
            </a:avLst>
          </a:prstGeom>
          <a:solidFill>
            <a:srgbClr val="F1F4F8"/>
          </a:solidFill>
          <a:ln/>
        </p:spPr>
      </p:sp>
      <p:sp>
        <p:nvSpPr>
          <p:cNvPr id="14" name="Text 12"/>
          <p:cNvSpPr/>
          <p:nvPr/>
        </p:nvSpPr>
        <p:spPr>
          <a:xfrm>
            <a:off x="8357616" y="3108960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3A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即插即用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357616" y="3566160"/>
            <a:ext cx="29900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只要工具遵循 MCP 标准，任何支持 MCP 的 AI 应用都能接入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5193792"/>
            <a:ext cx="11055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3A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本项目的定位：一个遵循 MCP 标准的 MCP Server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66928" y="5669280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官网：modelcontextprotocol.io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9A66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02 · 背景知识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MCP 三大角色与连接关系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17352" y="64556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/ 24</a:t>
            </a:r>
            <a:endParaRPr lang="en-US" sz="1200" dirty="0"/>
          </a:p>
        </p:txBody>
      </p:sp>
      <p:pic>
        <p:nvPicPr>
          <p:cNvPr id="5" name="Image 0" descr=".tmp/final_mcp_ro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676" y="1517904"/>
            <a:ext cx="8229600" cy="443668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6144768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D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 MCP Client 与一个 MCP Server 一一对应（1:1）；Host 内可同时管理多个 Client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9A66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03 · 项目架构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embedded-mcp-toolkit 是什么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17352" y="64556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/ 24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481328"/>
            <a:ext cx="5394960" cy="4160520"/>
          </a:xfrm>
          <a:prstGeom prst="roundRect">
            <a:avLst>
              <a:gd name="adj" fmla="val 1538"/>
            </a:avLst>
          </a:prstGeom>
          <a:solidFill>
            <a:srgbClr val="F1F4F8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177393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角色定位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59536" y="2340864"/>
            <a:ext cx="480974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400"/>
              </a:spcAft>
              <a:buSzPct val="100000"/>
              <a:buChar char="▸"/>
            </a:pPr>
            <a:r>
              <a:rPr lang="en-US" sz="1350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角色：一个 MCP Server（独立进程）</a:t>
            </a:r>
            <a:endParaRPr lang="en-US" sz="1350" dirty="0"/>
          </a:p>
          <a:p>
            <a:pPr marL="152400" indent="-152400">
              <a:spcAft>
                <a:spcPts val="1400"/>
              </a:spcAft>
              <a:buSzPct val="100000"/>
              <a:buChar char="▸"/>
            </a:pPr>
            <a:r>
              <a:rPr lang="en-US" sz="1350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能力：经串口 / SSH / ADB / PowerShell 四条通道管理嵌入式设备</a:t>
            </a:r>
            <a:endParaRPr lang="en-US" sz="1350" dirty="0"/>
          </a:p>
          <a:p>
            <a:pPr marL="152400" indent="-152400">
              <a:spcAft>
                <a:spcPts val="1400"/>
              </a:spcAft>
              <a:buSzPct val="100000"/>
              <a:buChar char="▸"/>
            </a:pPr>
            <a:r>
              <a:rPr lang="en-US" sz="1350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特性：多会话并发 · 流式输出切片 · 一键登录</a:t>
            </a:r>
            <a:endParaRPr lang="en-US" sz="135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50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　　（PSH 动态口令）· 进程退出自动清理</a:t>
            </a:r>
            <a:endParaRPr lang="en-US" sz="1350" dirty="0"/>
          </a:p>
          <a:p>
            <a:pPr marL="152400" indent="-152400">
              <a:spcAft>
                <a:spcPts val="1400"/>
              </a:spcAft>
              <a:buSzPct val="100000"/>
              <a:buChar char="▸"/>
            </a:pPr>
            <a:r>
              <a:rPr lang="en-US" sz="1350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不绑定 Host：Claude Code / ZCode / OpenCode 皆可接入</a:t>
            </a:r>
            <a:endParaRPr lang="en-US" sz="1350" dirty="0"/>
          </a:p>
          <a:p>
            <a:pPr marL="152400" indent="-152400">
              <a:spcAft>
                <a:spcPts val="1400"/>
              </a:spcAft>
              <a:buSzPct val="100000"/>
              <a:buChar char="▸"/>
            </a:pPr>
            <a:r>
              <a:rPr lang="en-US" sz="1350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开箱即用：npm 安装后一条 init 命令生成配置骨架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355080" y="148132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四大通道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55080" y="208483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A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 串口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355080" y="243230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UART · U-Boot 控制台 · ZMODEM 传文件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55080" y="2834640"/>
            <a:ext cx="5074920" cy="0"/>
          </a:xfrm>
          <a:prstGeom prst="line">
            <a:avLst/>
          </a:prstGeom>
          <a:noFill/>
          <a:ln w="9525">
            <a:solidFill>
              <a:srgbClr val="D8E0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299923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A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355080" y="334670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远程 Linux 板卡 · 编译服务器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55080" y="3749040"/>
            <a:ext cx="5074920" cy="0"/>
          </a:xfrm>
          <a:prstGeom prst="line">
            <a:avLst/>
          </a:prstGeom>
          <a:noFill/>
          <a:ln w="9525">
            <a:solidFill>
              <a:srgbClr val="D8E0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391363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A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ADB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355080" y="426110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Android 设备调试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55080" y="4663440"/>
            <a:ext cx="5074920" cy="0"/>
          </a:xfrm>
          <a:prstGeom prst="line">
            <a:avLst/>
          </a:prstGeom>
          <a:noFill/>
          <a:ln w="9525">
            <a:solidFill>
              <a:srgbClr val="D8E0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482803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A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PowerShell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355080" y="517550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Windows 本机操作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9A66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03 · 项目架构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功能总览：四大通道 + 基础工具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17352" y="64556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 / 24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54480"/>
          <a:ext cx="11055096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754880"/>
                <a:gridCol w="419709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类别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代表工具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解决什么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串口 serial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30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open / close / write / read / exec /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30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login / enter_uboot / upload / download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UART、U-Boot 控制台、ZMODEM 传文件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SSH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30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open / close / exec / login / connection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远程 Linux 板卡、编译服务器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ADB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30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device_list / exec / shell_*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Android 设备调试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PowerShell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30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exec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Windows 本机操作(一次性命令)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基础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30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version / device_info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版本与设备配置查询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Windows 扫描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30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port_scan / network_scan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COM 口、网卡 / IP 扫描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5943600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serial / ssh / adb 三条通道共享同一套 shell_exec 执行语义——一次实现，处处可用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9A66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03 · 项目架构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核心机制：提示符检测 + 双超时策略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17352" y="64556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 / 24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481328"/>
            <a:ext cx="5257800" cy="2487168"/>
          </a:xfrm>
          <a:prstGeom prst="roundRect">
            <a:avLst>
              <a:gd name="adj" fmla="val 2574"/>
            </a:avLst>
          </a:prstGeom>
          <a:solidFill>
            <a:srgbClr val="F1F4F8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737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A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机制（*_shell_exec 三通道共享）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41248" y="2212848"/>
            <a:ext cx="4709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常驻命令识别：按首 token 判定（内置白名单 ping / logcat / top / …，可扩展）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结束判定：检测到 shell 提示符（$ / # / =&gt; …）→ 立即返回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35040" y="1481328"/>
            <a:ext cx="5586984" cy="2487168"/>
          </a:xfrm>
          <a:prstGeom prst="roundRect">
            <a:avLst>
              <a:gd name="adj" fmla="val 2574"/>
            </a:avLst>
          </a:prstGeom>
          <a:solidFill>
            <a:srgbClr val="F1F4F8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A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双超时策略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309360" y="2231136"/>
            <a:ext cx="5074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普通命令　</a:t>
            </a:r>
            <a:r>
              <a:rPr lang="en-US" sz="1350" dirty="0">
                <a:solidFill>
                  <a:srgbClr val="5D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分钟兜底 · 不发 Ctrl+C · 异常安全阀</a:t>
            </a:r>
            <a:endParaRPr lang="en-US" sz="13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常驻命令　</a:t>
            </a:r>
            <a:r>
              <a:rPr lang="en-US" sz="1350" dirty="0">
                <a:solidFill>
                  <a:srgbClr val="5D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秒采样 · 自动发 Ctrl+C · 中性采样结果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4315968"/>
            <a:ext cx="11055096" cy="868680"/>
          </a:xfrm>
          <a:prstGeom prst="roundRect">
            <a:avLst>
              <a:gd name="adj" fmla="val 9474"/>
            </a:avLst>
          </a:prstGeom>
          <a:solidFill>
            <a:srgbClr val="1B2E42"/>
          </a:solidFill>
          <a:ln/>
        </p:spPr>
      </p:sp>
      <p:sp>
        <p:nvSpPr>
          <p:cNvPr id="12" name="Shape 10"/>
          <p:cNvSpPr/>
          <p:nvPr/>
        </p:nvSpPr>
        <p:spPr>
          <a:xfrm>
            <a:off x="804672" y="4517136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3" name="Shape 11"/>
          <p:cNvSpPr/>
          <p:nvPr/>
        </p:nvSpPr>
        <p:spPr>
          <a:xfrm>
            <a:off x="987552" y="4517136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4" name="Shape 12"/>
          <p:cNvSpPr/>
          <p:nvPr/>
        </p:nvSpPr>
        <p:spPr>
          <a:xfrm>
            <a:off x="1170432" y="4517136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5" name="Text 13"/>
          <p:cNvSpPr/>
          <p:nvPr/>
        </p:nvSpPr>
        <p:spPr>
          <a:xfrm>
            <a:off x="877824" y="4645152"/>
            <a:ext cx="10415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输出末尾追加 </a:t>
            </a:r>
            <a:r>
              <a:rPr lang="en-US" sz="13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[采样超时: ...] / [兜底超时: ...]</a:t>
            </a:r>
            <a:r>
              <a:rPr lang="en-US" sz="135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语义标注——AI 不再误判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66928" y="548640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66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★ 现场演示：top 采样一次——最能体现「领域流程固化」的价值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9A66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03 · 项目架构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一键登录：把领域流程固化进一个工具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17352" y="64556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 / 24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481328"/>
            <a:ext cx="5257800" cy="2084832"/>
          </a:xfrm>
          <a:prstGeom prst="roundRect">
            <a:avLst>
              <a:gd name="adj" fmla="val 3070"/>
            </a:avLst>
          </a:prstGeom>
          <a:solidFill>
            <a:srgbClr val="F1F4F8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3A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痛点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41248" y="2212848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带 PSH 的设备登录：challenge → 动态口令 → 解锁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步骤多、每轮都要重推——AI 和人都很痛苦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035040" y="1481328"/>
            <a:ext cx="5586984" cy="2084832"/>
          </a:xfrm>
          <a:prstGeom prst="roundRect">
            <a:avLst>
              <a:gd name="adj" fmla="val 3070"/>
            </a:avLst>
          </a:prstGeom>
          <a:solidFill>
            <a:srgbClr val="FBF2DC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3A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方案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309360" y="2212848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50" b="1" dirty="0">
                <a:solidFill>
                  <a:srgbClr val="1F3A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serial_shell_login / ssh_shell_login</a:t>
            </a:r>
            <a:endParaRPr lang="en-US" sz="14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一个工具调用完成全套登录流程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66928" y="385876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配套能力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66928" y="429768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KeyProvider 密钥管理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40480" y="431596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支持 file（文件 IPC）与 terminal（终端交互）两种模式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4809744"/>
            <a:ext cx="11055096" cy="0"/>
          </a:xfrm>
          <a:prstGeom prst="line">
            <a:avLst/>
          </a:prstGeom>
          <a:noFill/>
          <a:ln w="9525">
            <a:solidFill>
              <a:srgbClr val="D8E0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501091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PSH 动态口令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40480" y="502920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自动处理 PSH 动态口令生成的密钥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" y="5522976"/>
            <a:ext cx="11055096" cy="0"/>
          </a:xfrm>
          <a:prstGeom prst="line">
            <a:avLst/>
          </a:prstGeom>
          <a:noFill/>
          <a:ln w="9525">
            <a:solidFill>
              <a:srgbClr val="D8E0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572414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30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serial_enter_uboot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40480" y="574243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重启设备并进入 U-Boot 命令行（适配各厂商提示符，可配置正则）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9A66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04 · 部署方案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部署形态总览：两种用法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17352" y="64556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 / 24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54480"/>
          <a:ext cx="11055096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4206240"/>
                <a:gridCol w="437997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维度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用法一：本地同机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用法二：跨机远程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4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3A5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AI 客户端位置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Windows 工位机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Linux 机器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3A5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MCP Server 位置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同一台 Windows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Windows 工位机（握着物理设备）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3A5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连接方式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stdio 子进程直连，零网络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SSH 隧道转发 stdio，跨 TCP :22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3A5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.mcp.json 的 command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node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ssh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3A5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适用场景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开发者自己调试、单人单机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AI 跑在 Linux 编译机，设备连在 Windows 工位机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5532120"/>
            <a:ext cx="11055096" cy="777240"/>
          </a:xfrm>
          <a:prstGeom prst="roundRect">
            <a:avLst>
              <a:gd name="adj" fmla="val 8235"/>
            </a:avLst>
          </a:prstGeom>
          <a:solidFill>
            <a:srgbClr val="FBF2DC"/>
          </a:solidFill>
          <a:ln/>
        </p:spPr>
      </p:sp>
      <p:sp>
        <p:nvSpPr>
          <p:cNvPr id="7" name="Text 4"/>
          <p:cNvSpPr/>
          <p:nvPr/>
        </p:nvSpPr>
        <p:spPr>
          <a:xfrm>
            <a:off x="859536" y="5532120"/>
            <a:ext cx="10469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无论怎么部署：工具、配置、运行时行为完全一致——只是连接介质的差别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9A66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04 · 部署方案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部署方案一：本地同机（用法一）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17352" y="64556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17 / 24</a:t>
            </a:r>
            <a:endParaRPr lang="en-US" sz="1200" dirty="0"/>
          </a:p>
        </p:txBody>
      </p:sp>
      <p:pic>
        <p:nvPicPr>
          <p:cNvPr id="5" name="Image 0" descr=".tmp/trimmed_imag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6980388" cy="4709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03348" y="1481328"/>
            <a:ext cx="3818676" cy="4709160"/>
          </a:xfrm>
          <a:prstGeom prst="roundRect">
            <a:avLst>
              <a:gd name="adj" fmla="val 1676"/>
            </a:avLst>
          </a:prstGeom>
          <a:solidFill>
            <a:srgbClr val="F1F4F8"/>
          </a:solidFill>
          <a:ln/>
        </p:spPr>
      </p:sp>
      <p:sp>
        <p:nvSpPr>
          <p:cNvPr id="7" name="Text 4"/>
          <p:cNvSpPr/>
          <p:nvPr/>
        </p:nvSpPr>
        <p:spPr>
          <a:xfrm>
            <a:off x="8059380" y="1737360"/>
            <a:ext cx="33066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要点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059380" y="2212848"/>
            <a:ext cx="3306612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两条并行通路：源码编辑绕过 MCP，设备操作经 MCP</a:t>
            </a:r>
            <a:endParaRPr lang="en-US" sz="1250" dirty="0"/>
          </a:p>
          <a:p>
            <a:pPr marL="152400" indent="-152400"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关键边界：stdio（Host↔Server）、本机↔外部设备</a:t>
            </a:r>
            <a:endParaRPr lang="en-US" sz="1250" dirty="0"/>
          </a:p>
          <a:p>
            <a:pPr marL="152400" indent="-152400"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编译服务器双角色：源码仓库（Z: 挂载）+ 编译机</a:t>
            </a:r>
            <a:endParaRPr lang="en-US" sz="1250" dirty="0"/>
          </a:p>
          <a:p>
            <a:pPr marL="152400" indent="-152400"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部署闭环：编辑 → 编译 → 烧写 / 部署到目标板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9A66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04 · 部署方案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部署方案二：跨机远程（用法二）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17352" y="64556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 / 24</a:t>
            </a:r>
            <a:endParaRPr lang="en-US" sz="1200" dirty="0"/>
          </a:p>
        </p:txBody>
      </p:sp>
      <p:pic>
        <p:nvPicPr>
          <p:cNvPr id="5" name="Image 0" descr=".tmp/trimmed_image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6292380" cy="4709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115340" y="1481328"/>
            <a:ext cx="4506684" cy="4709160"/>
          </a:xfrm>
          <a:prstGeom prst="roundRect">
            <a:avLst>
              <a:gd name="adj" fmla="val 1420"/>
            </a:avLst>
          </a:prstGeom>
          <a:solidFill>
            <a:srgbClr val="F1F4F8"/>
          </a:solidFill>
          <a:ln/>
        </p:spPr>
      </p:sp>
      <p:sp>
        <p:nvSpPr>
          <p:cNvPr id="7" name="Text 4"/>
          <p:cNvSpPr/>
          <p:nvPr/>
        </p:nvSpPr>
        <p:spPr>
          <a:xfrm>
            <a:off x="7371372" y="1737360"/>
            <a:ext cx="3994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要点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71372" y="2212848"/>
            <a:ext cx="39946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为什么：COM3 / USB-ADB / PowerShell 绑定 Windows，Linux 够不到</a:t>
            </a:r>
            <a:endParaRPr lang="en-US" sz="1250" dirty="0"/>
          </a:p>
          <a:p>
            <a:pPr marL="152400" indent="-152400"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链路实质：JSON-RPC 写进 ssh stdin → TCP:22 → remote-start-mcp.bat 拉起的 node 进程，响应原路写回</a:t>
            </a:r>
            <a:endParaRPr lang="en-US" sz="1250" dirty="0"/>
          </a:p>
          <a:p>
            <a:pPr marL="152400" indent="-152400"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宿主端点提示：检测 SSH_CONNECTION，经 instructions + host_info 传达端点（仅 username@ip）</a:t>
            </a:r>
            <a:endParaRPr lang="en-US" sz="1250" dirty="0"/>
          </a:p>
          <a:p>
            <a:pPr marL="152400" indent="-152400"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编译路由指引：方式二下引导 AI 用本机交叉编译，避免绕圈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9A66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04 · 部署方案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部署落地：一键打通免密的两条对偶命令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17352" y="64556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19 / 24</a:t>
            </a:r>
            <a:endParaRPr lang="en-US" sz="1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54480"/>
          <a:ext cx="11055096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554480"/>
                <a:gridCol w="2743200"/>
                <a:gridCol w="4471416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命令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跑在哪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角色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职责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4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3A5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sshd-config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Windows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Windows 当 SSH server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装 OpenSSH Server、生成密钥对、配 authorized_keys、生成 Linux 端 .mcp.json 模板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3A5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remote-mcp-config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Windows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Windows 当 SSH 客户端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从 Windows 登录 Linux，把桥接 server 写入 Claude / ZCode 配置文件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3950208"/>
            <a:ext cx="11055096" cy="969264"/>
          </a:xfrm>
          <a:prstGeom prst="roundRect">
            <a:avLst>
              <a:gd name="adj" fmla="val 6604"/>
            </a:avLst>
          </a:prstGeom>
          <a:solidFill>
            <a:srgbClr val="F1F4F8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3950208"/>
            <a:ext cx="10058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产物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938528" y="3950208"/>
            <a:ext cx="931773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Linux 端出现桥接 server 定义——</a:t>
            </a:r>
            <a:r>
              <a:rPr lang="en-US" sz="1250" b="1" dirty="0">
                <a:solidFill>
                  <a:srgbClr val="1F3A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command: ssh</a:t>
            </a:r>
            <a:r>
              <a:rPr lang="en-US" sz="1300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+ 一条连到 Windows 并启动 remote-start-mcp.bat 的完整命令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" y="5175504"/>
            <a:ext cx="11055096" cy="969264"/>
          </a:xfrm>
          <a:prstGeom prst="roundRect">
            <a:avLst>
              <a:gd name="adj" fmla="val 6604"/>
            </a:avLst>
          </a:prstGeom>
          <a:solidFill>
            <a:srgbClr val="FBF2DC"/>
          </a:solidFill>
          <a:ln/>
        </p:spPr>
      </p:sp>
      <p:sp>
        <p:nvSpPr>
          <p:cNvPr id="10" name="Text 7"/>
          <p:cNvSpPr/>
          <p:nvPr/>
        </p:nvSpPr>
        <p:spPr>
          <a:xfrm>
            <a:off x="859536" y="5175504"/>
            <a:ext cx="104698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本地 / 远程共用同一个 remote-start-mcp.bat launcher：锚定 cwd + 设 5 个 env + stdio 启动——双击或被 ssh 拉起，跑的是同一进程、同一份配置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9A66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05 · 带来什么便利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PowerShell 直调 vs 本 MCP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17352" y="64556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 / 24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00200"/>
          <a:ext cx="11055096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3108960"/>
                <a:gridCol w="3191256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能力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PowerShell 直调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本 MCP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4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30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持久会话（多串口 / SSH 并发）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C0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✕</a:t>
                      </a:r>
                      <a:endParaRPr lang="en-US" sz="1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2E7D4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1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30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流式输出切片（提示符检测 + 超时熔断）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C0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✕</a:t>
                      </a:r>
                      <a:endParaRPr lang="en-US" sz="1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2E7D4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1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30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常驻命令取采样（logcat / top）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C0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✕</a:t>
                      </a:r>
                      <a:endParaRPr lang="en-US" sz="1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2E7D4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1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30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PSH 一键解锁登录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C0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✕</a:t>
                      </a:r>
                      <a:endParaRPr lang="en-US" sz="1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2E7D4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1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5230368"/>
            <a:ext cx="11055096" cy="914400"/>
          </a:xfrm>
          <a:prstGeom prst="roundRect">
            <a:avLst>
              <a:gd name="adj" fmla="val 7000"/>
            </a:avLst>
          </a:prstGeom>
          <a:solidFill>
            <a:srgbClr val="FBF2DC"/>
          </a:solidFill>
          <a:ln/>
        </p:spPr>
      </p:sp>
      <p:sp>
        <p:nvSpPr>
          <p:cNvPr id="7" name="Text 4"/>
          <p:cNvSpPr/>
          <p:nvPr/>
        </p:nvSpPr>
        <p:spPr>
          <a:xfrm>
            <a:off x="859536" y="5230368"/>
            <a:ext cx="10469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「人复制粘贴、状态留不下来」 → 「AI 直接对话板子、会话持久常驻」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9A66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05 · 带来什么便利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诚实的边界：什么场景用 MCP，什么场景不用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17352" y="64556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21 / 24</a:t>
            </a:r>
            <a:endParaRPr lang="en-US" sz="1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54480"/>
          <a:ext cx="11055096" cy="914400"/>
        </p:xfrm>
        <a:graphic>
          <a:graphicData uri="http://schemas.openxmlformats.org/drawingml/2006/table">
            <a:tbl>
              <a:tblPr/>
              <a:tblGrid>
                <a:gridCol w="4663440"/>
                <a:gridCol w="2377440"/>
                <a:gridCol w="401421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场景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推荐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理由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4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adb install / adb push / ssh host "一次性命令"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PowerShell 直调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无状态，MCP 多此一举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扫端口、看网卡、跑本地脚本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PowerShell 直调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Host 本身就有 shell 能力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串口交互、U-Boot、保持 PTY 的长会话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E7D4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MCP 工具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有状态长连接 + 流切片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PSH 登录、多板卡并发调试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E7D4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MCP 工具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领域流程固化 + 多会话管理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logcat / top 取采样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E7D4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MCP 的 exec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解决「不知道命令何时结束」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5349240"/>
            <a:ext cx="11055096" cy="960120"/>
          </a:xfrm>
          <a:prstGeom prst="roundRect">
            <a:avLst>
              <a:gd name="adj" fmla="val 6667"/>
            </a:avLst>
          </a:prstGeom>
          <a:solidFill>
            <a:srgbClr val="FBF2DC"/>
          </a:solidFill>
          <a:ln/>
        </p:spPr>
      </p:sp>
      <p:sp>
        <p:nvSpPr>
          <p:cNvPr id="7" name="Text 4"/>
          <p:cNvSpPr/>
          <p:nvPr/>
        </p:nvSpPr>
        <p:spPr>
          <a:xfrm>
            <a:off x="859536" y="5349240"/>
            <a:ext cx="10469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如果你用 PowerShell 自己维护长会话、处理 PTY、识别提示符、走 PSH 登录——本质上就是在重新实现这个 MCP。这正是它存在的理由。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9A66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06 · 快速上手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快速上手：五分钟跑通最小闭环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17352" y="64556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22 / 24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481328"/>
            <a:ext cx="5989320" cy="4846320"/>
          </a:xfrm>
          <a:prstGeom prst="roundRect">
            <a:avLst>
              <a:gd name="adj" fmla="val 1698"/>
            </a:avLst>
          </a:prstGeom>
          <a:solidFill>
            <a:srgbClr val="1B2E42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1682496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87552" y="1682496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170432" y="1682496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877824" y="2066544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8FA3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# 1. 安装（npm）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mcp-toolkit &amp;&amp; cd mcp-toolkit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 @smai-kit/embedded-mcp-toolkit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./node_modules/.bin/embedded-mcp-toolkit init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8FA3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# 2. 配置设备：复制 devices/board-example.yaml 填好参数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8FA3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# 3. 启动 AI 客户端并连接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/mcp list</a:t>
            </a:r>
            <a:r>
              <a:rPr lang="en-US" sz="1200" dirty="0">
                <a:solidFill>
                  <a:srgbClr val="8FA3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 # 看到 embedded-board ✓ connected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8FA3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# 4. 自然语言对话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"串口一键登录 board-test"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"在串口执行 uname -a"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"重启进入 uboot"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"用 top 采样一下"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784848" y="1481328"/>
            <a:ext cx="4837176" cy="4846320"/>
          </a:xfrm>
          <a:prstGeom prst="roundRect">
            <a:avLst>
              <a:gd name="adj" fmla="val 1323"/>
            </a:avLst>
          </a:prstGeom>
          <a:solidFill>
            <a:srgbClr val="FBF2DC"/>
          </a:solidFill>
          <a:ln/>
        </p:spPr>
      </p:sp>
      <p:sp>
        <p:nvSpPr>
          <p:cNvPr id="11" name="Text 9"/>
          <p:cNvSpPr/>
          <p:nvPr/>
        </p:nvSpPr>
        <p:spPr>
          <a:xfrm>
            <a:off x="7077456" y="177393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3A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演示建议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077456" y="2304288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现场跑一个「串口一键登录 → 发命令 → 读输出 → 常驻命令采样」的最小闭环：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077456" y="3291840"/>
            <a:ext cx="4251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450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串口一键登录</a:t>
            </a:r>
            <a:endParaRPr lang="en-US" sz="14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50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在串口执行 uname -a</a:t>
            </a:r>
            <a:endParaRPr lang="en-US" sz="14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50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重启进入 uboot</a:t>
            </a:r>
            <a:endParaRPr lang="en-US" sz="14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50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④ top 采样一次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077456" y="539496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一气呵成，最有说服力。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9A66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07 · 总结与展望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总结与展望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17352" y="64556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23 / 24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444752"/>
            <a:ext cx="11055096" cy="1078992"/>
          </a:xfrm>
          <a:prstGeom prst="roundRect">
            <a:avLst>
              <a:gd name="adj" fmla="val 5932"/>
            </a:avLst>
          </a:prstGeom>
          <a:solidFill>
            <a:srgbClr val="1F3A54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1444752"/>
            <a:ext cx="104698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embedded-mcp-toolkit 用一个常驻的 MCP Server，把嵌入式调试里「有状态、跨轮、易出错」的部分全部固化——让 AI 真正「直接对话板子」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66928" y="2761488"/>
            <a:ext cx="2139696" cy="2286000"/>
          </a:xfrm>
          <a:prstGeom prst="roundRect">
            <a:avLst>
              <a:gd name="adj" fmla="val 2991"/>
            </a:avLst>
          </a:prstGeom>
          <a:solidFill>
            <a:srgbClr val="F1F4F8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29992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66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8096" y="345643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四通道统一抽象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68096" y="41605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D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 · ssh · adb · powershell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98064" y="2761488"/>
            <a:ext cx="2139696" cy="2286000"/>
          </a:xfrm>
          <a:prstGeom prst="roundRect">
            <a:avLst>
              <a:gd name="adj" fmla="val 2991"/>
            </a:avLst>
          </a:prstGeom>
          <a:solidFill>
            <a:srgbClr val="F1F4F8"/>
          </a:solidFill>
          <a:ln/>
        </p:spPr>
      </p:sp>
      <p:sp>
        <p:nvSpPr>
          <p:cNvPr id="12" name="Text 10"/>
          <p:cNvSpPr/>
          <p:nvPr/>
        </p:nvSpPr>
        <p:spPr>
          <a:xfrm>
            <a:off x="2999232" y="29992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66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999232" y="345643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提示符检测+双超时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2999232" y="41605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D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解决「命令何时结束」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0" y="2761488"/>
            <a:ext cx="2139696" cy="2286000"/>
          </a:xfrm>
          <a:prstGeom prst="roundRect">
            <a:avLst>
              <a:gd name="adj" fmla="val 2991"/>
            </a:avLst>
          </a:prstGeom>
          <a:solidFill>
            <a:srgbClr val="F1F4F8"/>
          </a:solidFill>
          <a:ln/>
        </p:spPr>
      </p:sp>
      <p:sp>
        <p:nvSpPr>
          <p:cNvPr id="16" name="Text 14"/>
          <p:cNvSpPr/>
          <p:nvPr/>
        </p:nvSpPr>
        <p:spPr>
          <a:xfrm>
            <a:off x="5230368" y="29992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66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30368" y="345643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领域流程固化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230368" y="41605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D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PSH 一键登录 · U-Boot · ZMODEM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260336" y="2761488"/>
            <a:ext cx="2139696" cy="2286000"/>
          </a:xfrm>
          <a:prstGeom prst="roundRect">
            <a:avLst>
              <a:gd name="adj" fmla="val 2991"/>
            </a:avLst>
          </a:prstGeom>
          <a:solidFill>
            <a:srgbClr val="F1F4F8"/>
          </a:solidFill>
          <a:ln/>
        </p:spPr>
      </p:sp>
      <p:sp>
        <p:nvSpPr>
          <p:cNvPr id="20" name="Text 18"/>
          <p:cNvSpPr/>
          <p:nvPr/>
        </p:nvSpPr>
        <p:spPr>
          <a:xfrm>
            <a:off x="7461504" y="29992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66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461504" y="345643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两种部署形态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461504" y="41605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D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本地零网络 / 跨机 SSH 隧道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491472" y="2761488"/>
            <a:ext cx="2139696" cy="2286000"/>
          </a:xfrm>
          <a:prstGeom prst="roundRect">
            <a:avLst>
              <a:gd name="adj" fmla="val 2991"/>
            </a:avLst>
          </a:prstGeom>
          <a:solidFill>
            <a:srgbClr val="F1F4F8"/>
          </a:solidFill>
          <a:ln/>
        </p:spPr>
      </p:sp>
      <p:sp>
        <p:nvSpPr>
          <p:cNvPr id="24" name="Text 22"/>
          <p:cNvSpPr/>
          <p:nvPr/>
        </p:nvSpPr>
        <p:spPr>
          <a:xfrm>
            <a:off x="9692640" y="29992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66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692640" y="345643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230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工程化完备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692640" y="41605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D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会话并发 · 自动清理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66928" y="5376672"/>
            <a:ext cx="11055096" cy="822960"/>
          </a:xfrm>
          <a:prstGeom prst="roundRect">
            <a:avLst>
              <a:gd name="adj" fmla="val 7778"/>
            </a:avLst>
          </a:prstGeom>
          <a:solidFill>
            <a:srgbClr val="FBF2DC"/>
          </a:solidFill>
          <a:ln/>
        </p:spPr>
      </p:sp>
      <p:sp>
        <p:nvSpPr>
          <p:cNvPr id="28" name="Text 26"/>
          <p:cNvSpPr/>
          <p:nvPr/>
        </p:nvSpPr>
        <p:spPr>
          <a:xfrm>
            <a:off x="859536" y="5376672"/>
            <a:ext cx="10469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展望：更多通道 / 协议支持 · 更多领域流程固化 · 远程 Server 形态（Streamable HTTP）探索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5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嵌入式开发 · MCP 协议 · AI 工具链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68680" y="18745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谢谢聆听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68680" y="3017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3D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embedded-mcp-toolkit · 让 AI 直接对话嵌入式板卡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" y="61447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8CA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技术分享 · 2026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embedded-mcp-toolkit 项目介绍</dc:title>
  <dc:subject>PptxGenJS Presentation</dc:subject>
  <dc:creator>embedded-mcp-toolkit</dc:creator>
  <cp:lastModifiedBy>embedded-mcp-toolkit</cp:lastModifiedBy>
  <cp:revision>1</cp:revision>
  <dcterms:created xsi:type="dcterms:W3CDTF">2026-09-02T03:48:02Z</dcterms:created>
  <dcterms:modified xsi:type="dcterms:W3CDTF">2026-09-02T03:48:02Z</dcterms:modified>
</cp:coreProperties>
</file>